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22"/>
  </p:notesMasterIdLst>
  <p:sldIdLst>
    <p:sldId id="256" r:id="rId2"/>
    <p:sldId id="405" r:id="rId3"/>
    <p:sldId id="259" r:id="rId4"/>
    <p:sldId id="380" r:id="rId5"/>
    <p:sldId id="384" r:id="rId6"/>
    <p:sldId id="348" r:id="rId7"/>
    <p:sldId id="394" r:id="rId8"/>
    <p:sldId id="395" r:id="rId9"/>
    <p:sldId id="411" r:id="rId10"/>
    <p:sldId id="412" r:id="rId11"/>
    <p:sldId id="406" r:id="rId12"/>
    <p:sldId id="404" r:id="rId13"/>
    <p:sldId id="408" r:id="rId14"/>
    <p:sldId id="409" r:id="rId15"/>
    <p:sldId id="410" r:id="rId16"/>
    <p:sldId id="407" r:id="rId17"/>
    <p:sldId id="393" r:id="rId18"/>
    <p:sldId id="403" r:id="rId19"/>
    <p:sldId id="401" r:id="rId20"/>
    <p:sldId id="29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B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76" autoAdjust="0"/>
    <p:restoredTop sz="86364" autoAdjust="0"/>
  </p:normalViewPr>
  <p:slideViewPr>
    <p:cSldViewPr snapToGrid="0" snapToObjects="1">
      <p:cViewPr>
        <p:scale>
          <a:sx n="75" d="100"/>
          <a:sy n="75" d="100"/>
        </p:scale>
        <p:origin x="-2024" y="-7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33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A0F1B-8B1E-B442-A872-398C8C157DDF}" type="datetimeFigureOut">
              <a:rPr lang="es-ES" smtClean="0"/>
              <a:t>5/10/15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7D20E-CAAA-A74A-AA76-4F255E63572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40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7D20E-CAAA-A74A-AA76-4F255E63572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3583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 smtClean="0"/>
              <a:t>There</a:t>
            </a:r>
            <a:r>
              <a:rPr lang="es-ES" baseline="0" dirty="0" smtClean="0"/>
              <a:t> are </a:t>
            </a:r>
            <a:r>
              <a:rPr lang="es-ES" baseline="0" dirty="0" err="1" smtClean="0"/>
              <a:t>many</a:t>
            </a:r>
            <a:r>
              <a:rPr lang="es-ES" baseline="0" dirty="0" smtClean="0"/>
              <a:t> </a:t>
            </a:r>
            <a:r>
              <a:rPr lang="es-ES" baseline="0" dirty="0" err="1" smtClean="0"/>
              <a:t>differences</a:t>
            </a:r>
            <a:r>
              <a:rPr lang="es-ES" baseline="0" dirty="0" smtClean="0"/>
              <a:t> </a:t>
            </a:r>
            <a:r>
              <a:rPr lang="es-ES" baseline="0" dirty="0" err="1" smtClean="0"/>
              <a:t>among</a:t>
            </a:r>
            <a:r>
              <a:rPr lang="es-ES" baseline="0" dirty="0" smtClean="0"/>
              <a:t> </a:t>
            </a:r>
            <a:r>
              <a:rPr lang="es-ES" baseline="0" dirty="0" err="1" smtClean="0"/>
              <a:t>countries</a:t>
            </a:r>
            <a:r>
              <a:rPr lang="es-ES" baseline="0" dirty="0" smtClean="0"/>
              <a:t> </a:t>
            </a:r>
            <a:r>
              <a:rPr lang="es-ES" baseline="0" dirty="0" err="1" smtClean="0"/>
              <a:t>but</a:t>
            </a:r>
            <a:r>
              <a:rPr lang="es-ES" baseline="0" dirty="0" smtClean="0"/>
              <a:t> </a:t>
            </a:r>
            <a:r>
              <a:rPr lang="es-ES" baseline="0" dirty="0" err="1" smtClean="0"/>
              <a:t>it’s</a:t>
            </a:r>
            <a:r>
              <a:rPr lang="es-ES" baseline="0" dirty="0" smtClean="0"/>
              <a:t> </a:t>
            </a:r>
            <a:r>
              <a:rPr lang="es-ES" baseline="0" dirty="0" err="1" smtClean="0"/>
              <a:t>clear</a:t>
            </a:r>
            <a:r>
              <a:rPr lang="es-ES" baseline="0" dirty="0" smtClean="0"/>
              <a:t> </a:t>
            </a:r>
            <a:r>
              <a:rPr lang="es-ES" baseline="0" dirty="0" err="1" smtClean="0"/>
              <a:t>who</a:t>
            </a:r>
            <a:r>
              <a:rPr lang="es-ES" baseline="0" dirty="0" smtClean="0"/>
              <a:t> are more </a:t>
            </a:r>
            <a:r>
              <a:rPr lang="es-ES" baseline="0" dirty="0" err="1" smtClean="0"/>
              <a:t>advanded</a:t>
            </a:r>
            <a:r>
              <a:rPr lang="es-ES" baseline="0" dirty="0" smtClean="0"/>
              <a:t> at a </a:t>
            </a:r>
            <a:r>
              <a:rPr lang="es-ES" baseline="0" dirty="0" err="1" smtClean="0"/>
              <a:t>gance</a:t>
            </a:r>
            <a:r>
              <a:rPr lang="es-ES" baseline="0" dirty="0" smtClean="0"/>
              <a:t>.</a:t>
            </a:r>
          </a:p>
          <a:p>
            <a:r>
              <a:rPr lang="es-ES" baseline="0" dirty="0" smtClean="0"/>
              <a:t>UK </a:t>
            </a:r>
            <a:r>
              <a:rPr lang="es-ES" baseline="0" dirty="0" err="1" smtClean="0"/>
              <a:t>is</a:t>
            </a:r>
            <a:r>
              <a:rPr lang="es-ES" baseline="0" dirty="0" smtClean="0"/>
              <a:t> in </a:t>
            </a:r>
            <a:r>
              <a:rPr lang="es-ES" baseline="0" dirty="0" err="1" smtClean="0"/>
              <a:t>the</a:t>
            </a:r>
            <a:r>
              <a:rPr lang="es-ES" baseline="0" dirty="0" smtClean="0"/>
              <a:t> top </a:t>
            </a:r>
            <a:r>
              <a:rPr lang="es-ES" baseline="0" dirty="0" err="1" smtClean="0"/>
              <a:t>but</a:t>
            </a:r>
            <a:r>
              <a:rPr lang="es-ES" baseline="0" dirty="0" smtClean="0"/>
              <a:t> </a:t>
            </a:r>
            <a:r>
              <a:rPr lang="es-ES" baseline="0" dirty="0" err="1" smtClean="0"/>
              <a:t>too</a:t>
            </a:r>
            <a:r>
              <a:rPr lang="es-ES" baseline="0" dirty="0" smtClean="0"/>
              <a:t> </a:t>
            </a:r>
            <a:r>
              <a:rPr lang="es-ES" baseline="0" dirty="0" err="1" smtClean="0"/>
              <a:t>many</a:t>
            </a:r>
            <a:r>
              <a:rPr lang="es-ES" baseline="0" dirty="0" smtClean="0"/>
              <a:t> in </a:t>
            </a:r>
            <a:r>
              <a:rPr lang="es-ES" baseline="0" dirty="0" err="1" smtClean="0"/>
              <a:t>the</a:t>
            </a:r>
            <a:r>
              <a:rPr lang="es-ES" baseline="0" dirty="0" smtClean="0"/>
              <a:t> </a:t>
            </a:r>
            <a:r>
              <a:rPr lang="es-ES" baseline="0" dirty="0" err="1" smtClean="0"/>
              <a:t>lower</a:t>
            </a:r>
            <a:r>
              <a:rPr lang="es-ES" baseline="0" dirty="0" smtClean="0"/>
              <a:t> </a:t>
            </a:r>
            <a:r>
              <a:rPr lang="es-ES" baseline="0" dirty="0" err="1" smtClean="0"/>
              <a:t>part</a:t>
            </a:r>
            <a:r>
              <a:rPr lang="es-ES" baseline="0" dirty="0" smtClean="0"/>
              <a:t> of </a:t>
            </a:r>
            <a:r>
              <a:rPr lang="es-ES" baseline="0" dirty="0" err="1" smtClean="0"/>
              <a:t>the</a:t>
            </a:r>
            <a:r>
              <a:rPr lang="es-ES" baseline="0" dirty="0" smtClean="0"/>
              <a:t> ranking.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7D20E-CAAA-A74A-AA76-4F255E63572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9685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 smtClean="0"/>
              <a:t>There</a:t>
            </a:r>
            <a:r>
              <a:rPr lang="es-ES" baseline="0" dirty="0" smtClean="0"/>
              <a:t> are </a:t>
            </a:r>
            <a:r>
              <a:rPr lang="es-ES" baseline="0" dirty="0" err="1" smtClean="0"/>
              <a:t>many</a:t>
            </a:r>
            <a:r>
              <a:rPr lang="es-ES" baseline="0" dirty="0" smtClean="0"/>
              <a:t> </a:t>
            </a:r>
            <a:r>
              <a:rPr lang="es-ES" baseline="0" dirty="0" err="1" smtClean="0"/>
              <a:t>differences</a:t>
            </a:r>
            <a:r>
              <a:rPr lang="es-ES" baseline="0" dirty="0" smtClean="0"/>
              <a:t> </a:t>
            </a:r>
            <a:r>
              <a:rPr lang="es-ES" baseline="0" dirty="0" err="1" smtClean="0"/>
              <a:t>among</a:t>
            </a:r>
            <a:r>
              <a:rPr lang="es-ES" baseline="0" dirty="0" smtClean="0"/>
              <a:t> </a:t>
            </a:r>
            <a:r>
              <a:rPr lang="es-ES" baseline="0" dirty="0" err="1" smtClean="0"/>
              <a:t>countries</a:t>
            </a:r>
            <a:r>
              <a:rPr lang="es-ES" baseline="0" dirty="0" smtClean="0"/>
              <a:t> </a:t>
            </a:r>
            <a:r>
              <a:rPr lang="es-ES" baseline="0" dirty="0" err="1" smtClean="0"/>
              <a:t>but</a:t>
            </a:r>
            <a:r>
              <a:rPr lang="es-ES" baseline="0" dirty="0" smtClean="0"/>
              <a:t> </a:t>
            </a:r>
            <a:r>
              <a:rPr lang="es-ES" baseline="0" dirty="0" err="1" smtClean="0"/>
              <a:t>it’s</a:t>
            </a:r>
            <a:r>
              <a:rPr lang="es-ES" baseline="0" dirty="0" smtClean="0"/>
              <a:t> </a:t>
            </a:r>
            <a:r>
              <a:rPr lang="es-ES" baseline="0" dirty="0" err="1" smtClean="0"/>
              <a:t>clear</a:t>
            </a:r>
            <a:r>
              <a:rPr lang="es-ES" baseline="0" dirty="0" smtClean="0"/>
              <a:t> </a:t>
            </a:r>
            <a:r>
              <a:rPr lang="es-ES" baseline="0" dirty="0" err="1" smtClean="0"/>
              <a:t>who</a:t>
            </a:r>
            <a:r>
              <a:rPr lang="es-ES" baseline="0" dirty="0" smtClean="0"/>
              <a:t> are more </a:t>
            </a:r>
            <a:r>
              <a:rPr lang="es-ES" baseline="0" dirty="0" err="1" smtClean="0"/>
              <a:t>advanded</a:t>
            </a:r>
            <a:r>
              <a:rPr lang="es-ES" baseline="0" dirty="0" smtClean="0"/>
              <a:t> at a </a:t>
            </a:r>
            <a:r>
              <a:rPr lang="es-ES" baseline="0" dirty="0" err="1" smtClean="0"/>
              <a:t>gance</a:t>
            </a:r>
            <a:r>
              <a:rPr lang="es-ES" baseline="0" dirty="0" smtClean="0"/>
              <a:t>.</a:t>
            </a:r>
          </a:p>
          <a:p>
            <a:r>
              <a:rPr lang="es-ES" baseline="0" dirty="0" smtClean="0"/>
              <a:t>UK </a:t>
            </a:r>
            <a:r>
              <a:rPr lang="es-ES" baseline="0" dirty="0" err="1" smtClean="0"/>
              <a:t>is</a:t>
            </a:r>
            <a:r>
              <a:rPr lang="es-ES" baseline="0" dirty="0" smtClean="0"/>
              <a:t> in </a:t>
            </a:r>
            <a:r>
              <a:rPr lang="es-ES" baseline="0" dirty="0" err="1" smtClean="0"/>
              <a:t>the</a:t>
            </a:r>
            <a:r>
              <a:rPr lang="es-ES" baseline="0" dirty="0" smtClean="0"/>
              <a:t> top </a:t>
            </a:r>
            <a:r>
              <a:rPr lang="es-ES" baseline="0" dirty="0" err="1" smtClean="0"/>
              <a:t>but</a:t>
            </a:r>
            <a:r>
              <a:rPr lang="es-ES" baseline="0" dirty="0" smtClean="0"/>
              <a:t> </a:t>
            </a:r>
            <a:r>
              <a:rPr lang="es-ES" baseline="0" dirty="0" err="1" smtClean="0"/>
              <a:t>too</a:t>
            </a:r>
            <a:r>
              <a:rPr lang="es-ES" baseline="0" dirty="0" smtClean="0"/>
              <a:t> </a:t>
            </a:r>
            <a:r>
              <a:rPr lang="es-ES" baseline="0" dirty="0" err="1" smtClean="0"/>
              <a:t>many</a:t>
            </a:r>
            <a:r>
              <a:rPr lang="es-ES" baseline="0" dirty="0" smtClean="0"/>
              <a:t> in </a:t>
            </a:r>
            <a:r>
              <a:rPr lang="es-ES" baseline="0" dirty="0" err="1" smtClean="0"/>
              <a:t>the</a:t>
            </a:r>
            <a:r>
              <a:rPr lang="es-ES" baseline="0" dirty="0" smtClean="0"/>
              <a:t> </a:t>
            </a:r>
            <a:r>
              <a:rPr lang="es-ES" baseline="0" dirty="0" err="1" smtClean="0"/>
              <a:t>lower</a:t>
            </a:r>
            <a:r>
              <a:rPr lang="es-ES" baseline="0" dirty="0" smtClean="0"/>
              <a:t> </a:t>
            </a:r>
            <a:r>
              <a:rPr lang="es-ES" baseline="0" dirty="0" err="1" smtClean="0"/>
              <a:t>part</a:t>
            </a:r>
            <a:r>
              <a:rPr lang="es-ES" baseline="0" dirty="0" smtClean="0"/>
              <a:t> of </a:t>
            </a:r>
            <a:r>
              <a:rPr lang="es-ES" baseline="0" dirty="0" err="1" smtClean="0"/>
              <a:t>the</a:t>
            </a:r>
            <a:r>
              <a:rPr lang="es-ES" baseline="0" dirty="0" smtClean="0"/>
              <a:t> ranking.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7D20E-CAAA-A74A-AA76-4F255E63572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9685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 smtClean="0"/>
              <a:t>Wrote</a:t>
            </a:r>
            <a:r>
              <a:rPr lang="es-ES" dirty="0" smtClean="0"/>
              <a:t> in 2011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7D20E-CAAA-A74A-AA76-4F255E63572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3731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 smtClean="0"/>
              <a:t>Includes</a:t>
            </a:r>
            <a:r>
              <a:rPr lang="es-ES" dirty="0" smtClean="0"/>
              <a:t> </a:t>
            </a:r>
            <a:r>
              <a:rPr lang="es-ES" dirty="0" err="1" smtClean="0"/>
              <a:t>universitities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7D20E-CAAA-A74A-AA76-4F255E63572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0890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70% En</a:t>
            </a:r>
            <a:r>
              <a:rPr lang="es-ES" baseline="0" dirty="0" smtClean="0"/>
              <a:t> Madrid y Cataluña</a:t>
            </a:r>
            <a:endParaRPr lang="es-ES" dirty="0" smtClean="0"/>
          </a:p>
          <a:p>
            <a:endParaRPr lang="es-ES" dirty="0" smtClean="0"/>
          </a:p>
          <a:p>
            <a:r>
              <a:rPr lang="es-ES" dirty="0" smtClean="0"/>
              <a:t>Building </a:t>
            </a:r>
            <a:r>
              <a:rPr lang="es-ES" dirty="0" err="1" smtClean="0"/>
              <a:t>designed</a:t>
            </a:r>
            <a:r>
              <a:rPr lang="es-ES" dirty="0" smtClean="0"/>
              <a:t> </a:t>
            </a:r>
            <a:r>
              <a:rPr lang="es-ES" dirty="0" err="1" smtClean="0"/>
              <a:t>by</a:t>
            </a:r>
            <a:r>
              <a:rPr lang="es-ES" dirty="0" smtClean="0"/>
              <a:t> &lt;a </a:t>
            </a:r>
            <a:r>
              <a:rPr lang="es-ES" dirty="0" err="1" smtClean="0"/>
              <a:t>href</a:t>
            </a:r>
            <a:r>
              <a:rPr lang="es-ES" dirty="0" smtClean="0"/>
              <a:t>="http://</a:t>
            </a:r>
            <a:r>
              <a:rPr lang="es-ES" dirty="0" err="1" smtClean="0"/>
              <a:t>www.thenounproject.com</a:t>
            </a:r>
            <a:r>
              <a:rPr lang="es-ES" dirty="0" smtClean="0"/>
              <a:t>/</a:t>
            </a:r>
            <a:r>
              <a:rPr lang="es-ES" dirty="0" err="1" smtClean="0"/>
              <a:t>kathatp</a:t>
            </a:r>
            <a:r>
              <a:rPr lang="es-ES" dirty="0" smtClean="0"/>
              <a:t>"&gt;</a:t>
            </a:r>
            <a:r>
              <a:rPr lang="es-ES" dirty="0" err="1" smtClean="0"/>
              <a:t>Kat</a:t>
            </a:r>
            <a:r>
              <a:rPr lang="es-ES" dirty="0" smtClean="0"/>
              <a:t> </a:t>
            </a:r>
            <a:r>
              <a:rPr lang="es-ES" dirty="0" err="1" smtClean="0"/>
              <a:t>Tp</a:t>
            </a:r>
            <a:r>
              <a:rPr lang="es-ES" dirty="0" smtClean="0"/>
              <a:t>&lt;/a&gt; </a:t>
            </a:r>
            <a:r>
              <a:rPr lang="es-ES" dirty="0" err="1" smtClean="0"/>
              <a:t>from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&lt;a </a:t>
            </a:r>
            <a:r>
              <a:rPr lang="es-ES" dirty="0" err="1" smtClean="0"/>
              <a:t>href</a:t>
            </a:r>
            <a:r>
              <a:rPr lang="es-ES" dirty="0" smtClean="0"/>
              <a:t>="http://</a:t>
            </a:r>
            <a:r>
              <a:rPr lang="es-ES" dirty="0" err="1" smtClean="0"/>
              <a:t>www.thenounproject.com</a:t>
            </a:r>
            <a:r>
              <a:rPr lang="es-ES" dirty="0" smtClean="0"/>
              <a:t>"&gt;</a:t>
            </a:r>
            <a:r>
              <a:rPr lang="es-ES" dirty="0" err="1" smtClean="0"/>
              <a:t>Noun</a:t>
            </a:r>
            <a:r>
              <a:rPr lang="es-ES" dirty="0" smtClean="0"/>
              <a:t> Project&lt;/a&gt;</a:t>
            </a:r>
          </a:p>
          <a:p>
            <a:r>
              <a:rPr lang="es-ES" dirty="0" err="1" smtClean="0"/>
              <a:t>Coins</a:t>
            </a:r>
            <a:r>
              <a:rPr lang="es-ES" dirty="0" smtClean="0"/>
              <a:t> </a:t>
            </a:r>
            <a:r>
              <a:rPr lang="es-ES" dirty="0" err="1" smtClean="0"/>
              <a:t>designed</a:t>
            </a:r>
            <a:r>
              <a:rPr lang="es-ES" dirty="0" smtClean="0"/>
              <a:t> </a:t>
            </a:r>
            <a:r>
              <a:rPr lang="es-ES" dirty="0" err="1" smtClean="0"/>
              <a:t>by</a:t>
            </a:r>
            <a:r>
              <a:rPr lang="es-ES" dirty="0" smtClean="0"/>
              <a:t> &lt;a </a:t>
            </a:r>
            <a:r>
              <a:rPr lang="es-ES" dirty="0" err="1" smtClean="0"/>
              <a:t>href</a:t>
            </a:r>
            <a:r>
              <a:rPr lang="es-ES" dirty="0" smtClean="0"/>
              <a:t>="http://</a:t>
            </a:r>
            <a:r>
              <a:rPr lang="es-ES" dirty="0" err="1" smtClean="0"/>
              <a:t>www.thenounproject.com</a:t>
            </a:r>
            <a:r>
              <a:rPr lang="es-ES" dirty="0" smtClean="0"/>
              <a:t>/zer0mike"&gt;Mike </a:t>
            </a:r>
            <a:r>
              <a:rPr lang="es-ES" dirty="0" err="1" smtClean="0"/>
              <a:t>Hince</a:t>
            </a:r>
            <a:r>
              <a:rPr lang="es-ES" dirty="0" smtClean="0"/>
              <a:t>&lt;/a&gt; </a:t>
            </a:r>
            <a:r>
              <a:rPr lang="es-ES" dirty="0" err="1" smtClean="0"/>
              <a:t>from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&lt;a </a:t>
            </a:r>
            <a:r>
              <a:rPr lang="es-ES" dirty="0" err="1" smtClean="0"/>
              <a:t>href</a:t>
            </a:r>
            <a:r>
              <a:rPr lang="es-ES" dirty="0" smtClean="0"/>
              <a:t>="http://</a:t>
            </a:r>
            <a:r>
              <a:rPr lang="es-ES" dirty="0" err="1" smtClean="0"/>
              <a:t>www.thenounproject.com</a:t>
            </a:r>
            <a:r>
              <a:rPr lang="es-ES" dirty="0" smtClean="0"/>
              <a:t>"&gt;</a:t>
            </a:r>
            <a:r>
              <a:rPr lang="es-ES" dirty="0" err="1" smtClean="0"/>
              <a:t>Noun</a:t>
            </a:r>
            <a:r>
              <a:rPr lang="es-ES" dirty="0" smtClean="0"/>
              <a:t> Project&lt;/a&gt;</a:t>
            </a:r>
          </a:p>
          <a:p>
            <a:r>
              <a:rPr lang="es-ES" dirty="0" err="1" smtClean="0"/>
              <a:t>People</a:t>
            </a:r>
            <a:r>
              <a:rPr lang="es-ES" dirty="0" smtClean="0"/>
              <a:t> </a:t>
            </a:r>
            <a:r>
              <a:rPr lang="es-ES" dirty="0" err="1" smtClean="0"/>
              <a:t>designed</a:t>
            </a:r>
            <a:r>
              <a:rPr lang="es-ES" dirty="0" smtClean="0"/>
              <a:t> </a:t>
            </a:r>
            <a:r>
              <a:rPr lang="es-ES" dirty="0" err="1" smtClean="0"/>
              <a:t>by</a:t>
            </a:r>
            <a:r>
              <a:rPr lang="es-ES" dirty="0" smtClean="0"/>
              <a:t> &lt;a </a:t>
            </a:r>
            <a:r>
              <a:rPr lang="es-ES" dirty="0" err="1" smtClean="0"/>
              <a:t>href</a:t>
            </a:r>
            <a:r>
              <a:rPr lang="es-ES" dirty="0" smtClean="0"/>
              <a:t>="http://</a:t>
            </a:r>
            <a:r>
              <a:rPr lang="es-ES" dirty="0" err="1" smtClean="0"/>
              <a:t>www.thenounproject.com</a:t>
            </a:r>
            <a:r>
              <a:rPr lang="es-ES" dirty="0" smtClean="0"/>
              <a:t>/</a:t>
            </a:r>
            <a:r>
              <a:rPr lang="es-ES" dirty="0" err="1" smtClean="0"/>
              <a:t>moshiah</a:t>
            </a:r>
            <a:r>
              <a:rPr lang="es-ES" dirty="0" smtClean="0"/>
              <a:t>"&gt;</a:t>
            </a:r>
            <a:r>
              <a:rPr lang="es-ES" dirty="0" err="1" smtClean="0"/>
              <a:t>Benjamin</a:t>
            </a:r>
            <a:r>
              <a:rPr lang="es-ES" dirty="0" smtClean="0"/>
              <a:t> Harlow&lt;/a&gt; </a:t>
            </a:r>
            <a:r>
              <a:rPr lang="es-ES" dirty="0" err="1" smtClean="0"/>
              <a:t>from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&lt;a </a:t>
            </a:r>
            <a:r>
              <a:rPr lang="es-ES" dirty="0" err="1" smtClean="0"/>
              <a:t>href</a:t>
            </a:r>
            <a:r>
              <a:rPr lang="es-ES" dirty="0" smtClean="0"/>
              <a:t>="http://</a:t>
            </a:r>
            <a:r>
              <a:rPr lang="es-ES" dirty="0" err="1" smtClean="0"/>
              <a:t>www.thenounproject.com</a:t>
            </a:r>
            <a:r>
              <a:rPr lang="es-ES" dirty="0" smtClean="0"/>
              <a:t>"&gt;</a:t>
            </a:r>
            <a:r>
              <a:rPr lang="es-ES" dirty="0" err="1" smtClean="0"/>
              <a:t>Noun</a:t>
            </a:r>
            <a:r>
              <a:rPr lang="es-ES" dirty="0" smtClean="0"/>
              <a:t> Project&lt;/a&gt;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7D20E-CAAA-A74A-AA76-4F255E63572F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8736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EABC-D766-4322-8E78-B830FAE35C72}" type="datetime4">
              <a:rPr lang="en-US" smtClean="0"/>
              <a:pPr/>
              <a:t>octubre 5, 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3F43-3E86-47E4-BFBB-2476D384E1C6}" type="datetime4">
              <a:rPr lang="en-US" smtClean="0"/>
              <a:pPr/>
              <a:t>octubre 5,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63BA-01FC-4367-B6F3-ABB2645D55F1}" type="datetime4">
              <a:rPr lang="en-US" smtClean="0"/>
              <a:pPr/>
              <a:t>octubre 5, 2015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C71-EC74-44AF-B27E-FC7DC3C3A61D}" type="datetime4">
              <a:rPr lang="en-US" smtClean="0"/>
              <a:pPr/>
              <a:t>octubre 5,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CDA29-3CBE-48EA-92AE-A996835462BA}" type="datetime4">
              <a:rPr lang="en-US" smtClean="0"/>
              <a:pPr/>
              <a:t>octubre 5, 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C054-3869-4501-B163-1BBFDE8DCE04}" type="datetime4">
              <a:rPr lang="en-US" smtClean="0"/>
              <a:pPr/>
              <a:t>octubre 5, 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D831-56C1-49CF-8EF7-8B9A98402BCD}" type="datetime4">
              <a:rPr lang="en-US" smtClean="0"/>
              <a:pPr/>
              <a:t>octubre 5, 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D5615-7F4F-4584-84D5-CC95918C321F}" type="datetime4">
              <a:rPr lang="en-US" smtClean="0"/>
              <a:pPr/>
              <a:t>octubre 5,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A923-9BEE-48CE-9F28-5B525F399BAD}" type="datetime4">
              <a:rPr lang="en-US" smtClean="0"/>
              <a:pPr/>
              <a:t>octubre 5,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1F9E-604E-4343-9F29-EF72E8231CAD}" type="datetime4">
              <a:rPr lang="en-US" smtClean="0"/>
              <a:pPr/>
              <a:t>octubre 5,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E1CE-37F8-4102-8DF9-852A0A51F293}" type="datetime4">
              <a:rPr lang="en-US" smtClean="0"/>
              <a:pPr/>
              <a:t>octubre 5,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17D0EFEE-2756-4A20-BF2A-63F0A94F99AC}" type="datetime4">
              <a:rPr lang="en-US" smtClean="0"/>
              <a:pPr/>
              <a:t>octubre 5, 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 descr="epsi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555" y="154250"/>
            <a:ext cx="2103120" cy="76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psiplatform.eu/content/european-psi-scoreboard" TargetMode="External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goo.gl/3P40M" TargetMode="External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atos.gob.e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vocab-dcat/" TargetMode="External"/><Relationship Id="rId4" Type="http://schemas.openxmlformats.org/officeDocument/2006/relationships/hyperlink" Target="https://joinup.ec.europa.eu/asset/dcat_application_profile/home" TargetMode="External"/><Relationship Id="rId5" Type="http://schemas.openxmlformats.org/officeDocument/2006/relationships/hyperlink" Target="http://administracionelectronica.gob.es/pae_Home/pae_Estrategias/pae_Gobierno_Abierto_Inicio/pae_Reutilizacion_de_la_informacion_en_el_sector_publico.html?idioma=en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hyperlink" Target="http://mapa.datos.gob.es" TargetMode="External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3" Type="http://schemas.openxmlformats.org/officeDocument/2006/relationships/hyperlink" Target="http://datos.gob.es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hyperlink" Target="http://datos.gob.es/content/informe-del-sector-infomediario-2015" TargetMode="External"/><Relationship Id="rId7" Type="http://schemas.openxmlformats.org/officeDocument/2006/relationships/hyperlink" Target="http://www.thenounproject.com/kathatp" TargetMode="External"/><Relationship Id="rId8" Type="http://schemas.openxmlformats.org/officeDocument/2006/relationships/hyperlink" Target="http://www.thenounproject.com/zer0mike" TargetMode="External"/><Relationship Id="rId9" Type="http://schemas.openxmlformats.org/officeDocument/2006/relationships/hyperlink" Target="http://www.thenounproject.com/moshiah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epsiplatform.eu" TargetMode="External"/><Relationship Id="rId4" Type="http://schemas.openxmlformats.org/officeDocument/2006/relationships/hyperlink" Target="mailto:CNECT-OPENDATA@ec.europa.eu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2" Type="http://schemas.openxmlformats.org/officeDocument/2006/relationships/hyperlink" Target="http://epsiplatform.e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9" y="2871922"/>
            <a:ext cx="8260633" cy="1928676"/>
          </a:xfrm>
        </p:spPr>
        <p:txBody>
          <a:bodyPr/>
          <a:lstStyle/>
          <a:p>
            <a:r>
              <a:rPr lang="en-GB" sz="6600" noProof="0" dirty="0" smtClean="0"/>
              <a:t>PSI Re-USE</a:t>
            </a:r>
            <a:br>
              <a:rPr lang="en-GB" sz="6600" noProof="0" dirty="0" smtClean="0"/>
            </a:br>
            <a:r>
              <a:rPr lang="en-GB" sz="4800" noProof="0" dirty="0" smtClean="0"/>
              <a:t>in SPAIN</a:t>
            </a:r>
            <a:endParaRPr lang="en-GB" sz="6000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57199" y="4800600"/>
            <a:ext cx="7601527" cy="914400"/>
          </a:xfrm>
        </p:spPr>
        <p:txBody>
          <a:bodyPr>
            <a:normAutofit fontScale="85000" lnSpcReduction="10000"/>
          </a:bodyPr>
          <a:lstStyle/>
          <a:p>
            <a:r>
              <a:rPr lang="en-GB" noProof="0" dirty="0" smtClean="0"/>
              <a:t>Martin Alvarez</a:t>
            </a:r>
          </a:p>
          <a:p>
            <a:r>
              <a:rPr lang="en-GB" noProof="0" dirty="0" smtClean="0"/>
              <a:t>EPSI Platform Tour — 1 OCT 2015, Ljubljana (SI)</a:t>
            </a:r>
            <a:endParaRPr lang="en-GB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068" y="0"/>
            <a:ext cx="37719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740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57199" y="1447800"/>
            <a:ext cx="8212667" cy="4321175"/>
          </a:xfrm>
        </p:spPr>
        <p:txBody>
          <a:bodyPr/>
          <a:lstStyle/>
          <a:p>
            <a:r>
              <a:rPr lang="en-GB" sz="8000" noProof="0" dirty="0" smtClean="0"/>
              <a:t>About EPSI Platform</a:t>
            </a:r>
            <a:endParaRPr lang="en-GB" sz="8000" noProof="0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noProof="0" smtClean="0"/>
              <a:t>PSI Re-use in Spain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126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457172" y="273352"/>
            <a:ext cx="8228763" cy="1145009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50" name="TextShape 2"/>
          <p:cNvSpPr txBox="1"/>
          <p:nvPr/>
        </p:nvSpPr>
        <p:spPr>
          <a:xfrm>
            <a:off x="457172" y="1604841"/>
            <a:ext cx="8228763" cy="3977811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728871" y="2330174"/>
            <a:ext cx="7957930" cy="3750585"/>
          </a:xfrm>
        </p:spPr>
        <p:txBody>
          <a:bodyPr>
            <a:normAutofit/>
          </a:bodyPr>
          <a:lstStyle/>
          <a:p>
            <a:r>
              <a:rPr lang="en-GB" b="0" noProof="0" dirty="0" smtClean="0"/>
              <a:t>Funded by the </a:t>
            </a:r>
            <a:r>
              <a:rPr lang="en-GB" noProof="0" dirty="0" smtClean="0"/>
              <a:t>European Commission</a:t>
            </a:r>
          </a:p>
          <a:p>
            <a:r>
              <a:rPr lang="en-GB" b="0" noProof="0" dirty="0" smtClean="0"/>
              <a:t>Europe's One-Stop Shop on </a:t>
            </a:r>
            <a:r>
              <a:rPr lang="en-GB" noProof="0" dirty="0" smtClean="0"/>
              <a:t>PSI Re-use</a:t>
            </a:r>
          </a:p>
          <a:p>
            <a:pPr marL="914400" lvl="1" indent="-457200">
              <a:buFont typeface="Arial"/>
              <a:buChar char="•"/>
            </a:pPr>
            <a:r>
              <a:rPr lang="en-GB" noProof="0" dirty="0" smtClean="0"/>
              <a:t>News, happenings</a:t>
            </a:r>
          </a:p>
          <a:p>
            <a:pPr marL="914400" lvl="1" indent="-457200">
              <a:buFont typeface="Arial"/>
              <a:buChar char="•"/>
            </a:pPr>
            <a:r>
              <a:rPr lang="en-GB" noProof="0" dirty="0" smtClean="0"/>
              <a:t>Best practices</a:t>
            </a:r>
          </a:p>
          <a:p>
            <a:pPr marL="914400" lvl="1" indent="-457200">
              <a:buFont typeface="Arial"/>
              <a:buChar char="•"/>
            </a:pPr>
            <a:r>
              <a:rPr lang="en-GB" noProof="0" dirty="0" smtClean="0"/>
              <a:t>Engaging the community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4954104" cy="553278"/>
          </a:xfrm>
        </p:spPr>
        <p:txBody>
          <a:bodyPr/>
          <a:lstStyle/>
          <a:p>
            <a:r>
              <a:rPr lang="en-GB" noProof="0" smtClean="0"/>
              <a:t>European Public Sector Information Platform</a:t>
            </a:r>
            <a:endParaRPr lang="en-GB" noProof="0"/>
          </a:p>
        </p:txBody>
      </p:sp>
      <p:sp>
        <p:nvSpPr>
          <p:cNvPr id="7" name="Título 2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</p:spPr>
        <p:txBody>
          <a:bodyPr/>
          <a:lstStyle/>
          <a:p>
            <a:r>
              <a:rPr lang="en-GB" noProof="0" smtClean="0"/>
              <a:t>ePSI Platform</a:t>
            </a:r>
            <a:endParaRPr lang="en-GB" noProof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080" y="69232"/>
            <a:ext cx="37719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097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i="1" noProof="0"/>
              <a:t>Status of PSI in EU28</a:t>
            </a:r>
            <a:endParaRPr lang="en-GB" noProof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PSI Scoreboard</a:t>
            </a:r>
            <a:endParaRPr lang="en-GB" noProof="0"/>
          </a:p>
        </p:txBody>
      </p:sp>
      <p:sp>
        <p:nvSpPr>
          <p:cNvPr id="9" name="Rectángulo 8"/>
          <p:cNvSpPr/>
          <p:nvPr/>
        </p:nvSpPr>
        <p:spPr>
          <a:xfrm>
            <a:off x="4310490" y="6296378"/>
            <a:ext cx="4572000" cy="2539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s-ES" sz="1050" dirty="0">
                <a:hlinkClick r:id="rId3"/>
              </a:rPr>
              <a:t>http://www.epsiplatform.eu/content/european-psi-</a:t>
            </a:r>
            <a:r>
              <a:rPr lang="es-ES" sz="1050" dirty="0" smtClean="0">
                <a:hlinkClick r:id="rId3"/>
              </a:rPr>
              <a:t>scoreboard</a:t>
            </a:r>
            <a:r>
              <a:rPr lang="es-ES" sz="1050" dirty="0" smtClean="0"/>
              <a:t> </a:t>
            </a:r>
            <a:endParaRPr lang="es-ES" sz="1050" dirty="0"/>
          </a:p>
        </p:txBody>
      </p:sp>
      <p:pic>
        <p:nvPicPr>
          <p:cNvPr id="6" name="Marcador de posición de imagen 5"/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l="56" r="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36905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noProof="0" dirty="0" smtClean="0"/>
              <a:t>Crowd-sourced tool</a:t>
            </a:r>
            <a:endParaRPr lang="en-GB" noProof="0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PSI Scoreboard</a:t>
            </a:r>
            <a:endParaRPr lang="en-GB" noProof="0"/>
          </a:p>
        </p:txBody>
      </p:sp>
      <p:sp>
        <p:nvSpPr>
          <p:cNvPr id="9" name="Rectángulo 8"/>
          <p:cNvSpPr/>
          <p:nvPr/>
        </p:nvSpPr>
        <p:spPr>
          <a:xfrm>
            <a:off x="4310490" y="629637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s-ES" dirty="0" smtClean="0">
                <a:hlinkClick r:id="rId3"/>
              </a:rPr>
              <a:t>http://goo.gl</a:t>
            </a:r>
            <a:r>
              <a:rPr lang="es-ES" dirty="0">
                <a:hlinkClick r:id="rId3"/>
              </a:rPr>
              <a:t>/</a:t>
            </a:r>
            <a:r>
              <a:rPr lang="es-ES" dirty="0" smtClean="0">
                <a:hlinkClick r:id="rId3"/>
              </a:rPr>
              <a:t>3P40M</a:t>
            </a:r>
            <a:r>
              <a:rPr lang="es-ES" dirty="0" smtClean="0"/>
              <a:t>  </a:t>
            </a:r>
            <a:endParaRPr lang="es-ES" dirty="0"/>
          </a:p>
        </p:txBody>
      </p:sp>
      <p:pic>
        <p:nvPicPr>
          <p:cNvPr id="4" name="Marcador de posición de imagen 3"/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t="2247" b="224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1523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57199" y="1447800"/>
            <a:ext cx="8212667" cy="4321175"/>
          </a:xfrm>
        </p:spPr>
        <p:txBody>
          <a:bodyPr/>
          <a:lstStyle/>
          <a:p>
            <a:r>
              <a:rPr lang="en-GB" sz="8000" noProof="0" dirty="0" smtClean="0"/>
              <a:t>Legal background</a:t>
            </a:r>
            <a:endParaRPr lang="en-GB" sz="8000" noProof="0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noProof="0" smtClean="0"/>
              <a:t>PSI Re-use in Spain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1891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 smtClean="0"/>
              <a:t>Legal Framework (I)</a:t>
            </a:r>
            <a:endParaRPr lang="en-GB" noProof="0" dirty="0"/>
          </a:p>
        </p:txBody>
      </p:sp>
      <p:pic>
        <p:nvPicPr>
          <p:cNvPr id="16386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13" y="1546696"/>
            <a:ext cx="5468937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Llamada con línea 1 9"/>
          <p:cNvSpPr/>
          <p:nvPr/>
        </p:nvSpPr>
        <p:spPr>
          <a:xfrm>
            <a:off x="4962525" y="3038946"/>
            <a:ext cx="3965575" cy="912812"/>
          </a:xfrm>
          <a:prstGeom prst="borderCallout1">
            <a:avLst>
              <a:gd name="adj1" fmla="val 18750"/>
              <a:gd name="adj2" fmla="val -8333"/>
              <a:gd name="adj3" fmla="val 55651"/>
              <a:gd name="adj4" fmla="val -5582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000" b="1" dirty="0"/>
              <a:t>Law 18/2015</a:t>
            </a:r>
            <a:r>
              <a:rPr lang="en-US" b="1" dirty="0"/>
              <a:t> </a:t>
            </a:r>
            <a:r>
              <a:rPr lang="en-US" dirty="0" smtClean="0"/>
              <a:t>of </a:t>
            </a:r>
            <a:r>
              <a:rPr lang="en-US" dirty="0"/>
              <a:t>9th July </a:t>
            </a:r>
            <a:r>
              <a:rPr lang="en-US" dirty="0" smtClean="0"/>
              <a:t>2015, transposing the Directive </a:t>
            </a:r>
            <a:r>
              <a:rPr lang="hr-HR" dirty="0"/>
              <a:t>2013/37/EU </a:t>
            </a:r>
            <a:endParaRPr lang="es-ES" sz="5400" dirty="0"/>
          </a:p>
        </p:txBody>
      </p:sp>
      <p:sp>
        <p:nvSpPr>
          <p:cNvPr id="13" name="Llamada con línea 1 12"/>
          <p:cNvSpPr/>
          <p:nvPr/>
        </p:nvSpPr>
        <p:spPr>
          <a:xfrm>
            <a:off x="3195637" y="1410171"/>
            <a:ext cx="5050895" cy="1402820"/>
          </a:xfrm>
          <a:prstGeom prst="borderCallout1">
            <a:avLst>
              <a:gd name="adj1" fmla="val 18750"/>
              <a:gd name="adj2" fmla="val -8333"/>
              <a:gd name="adj3" fmla="val 67279"/>
              <a:gd name="adj4" fmla="val -3743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s-ES" sz="2000" b="1" dirty="0" err="1" smtClean="0"/>
              <a:t>Directive</a:t>
            </a:r>
            <a:r>
              <a:rPr lang="es-ES" sz="2000" b="1" dirty="0" smtClean="0"/>
              <a:t> </a:t>
            </a:r>
            <a:r>
              <a:rPr lang="es-ES_tradnl" sz="2000" b="1" dirty="0"/>
              <a:t>2013/37/</a:t>
            </a:r>
            <a:r>
              <a:rPr lang="es-ES_tradnl" sz="2000" b="1" dirty="0" smtClean="0"/>
              <a:t>EU </a:t>
            </a:r>
            <a:r>
              <a:rPr lang="es-ES_tradnl" dirty="0" smtClean="0"/>
              <a:t>of </a:t>
            </a:r>
            <a:r>
              <a:rPr lang="es-ES_tradnl" dirty="0" err="1" smtClean="0"/>
              <a:t>the</a:t>
            </a:r>
            <a:r>
              <a:rPr lang="es-ES_tradnl" dirty="0" smtClean="0"/>
              <a:t> </a:t>
            </a:r>
            <a:r>
              <a:rPr lang="es-ES_tradnl" dirty="0" err="1" smtClean="0"/>
              <a:t>European</a:t>
            </a:r>
            <a:r>
              <a:rPr lang="es-ES_tradnl" dirty="0" smtClean="0"/>
              <a:t> </a:t>
            </a:r>
            <a:r>
              <a:rPr lang="es-ES_tradnl" dirty="0" err="1" smtClean="0"/>
              <a:t>Parliament</a:t>
            </a:r>
            <a:r>
              <a:rPr lang="es-ES_tradnl" dirty="0" smtClean="0"/>
              <a:t> and of </a:t>
            </a:r>
            <a:r>
              <a:rPr lang="es-ES_tradnl" dirty="0" err="1" smtClean="0"/>
              <a:t>the</a:t>
            </a:r>
            <a:r>
              <a:rPr lang="es-ES_tradnl" dirty="0" smtClean="0"/>
              <a:t> Council of 26 June 2013 </a:t>
            </a:r>
            <a:r>
              <a:rPr lang="es-ES_tradnl" dirty="0" err="1" smtClean="0"/>
              <a:t>on</a:t>
            </a:r>
            <a:r>
              <a:rPr lang="es-ES_tradnl" dirty="0" smtClean="0"/>
              <a:t> </a:t>
            </a:r>
            <a:r>
              <a:rPr lang="es-ES_tradnl" dirty="0" err="1" smtClean="0"/>
              <a:t>the</a:t>
            </a:r>
            <a:r>
              <a:rPr lang="es-ES_tradnl" dirty="0" smtClean="0"/>
              <a:t> </a:t>
            </a:r>
            <a:r>
              <a:rPr lang="es-ES_tradnl" dirty="0" err="1" smtClean="0"/>
              <a:t>reuse</a:t>
            </a:r>
            <a:r>
              <a:rPr lang="es-ES_tradnl" dirty="0" smtClean="0"/>
              <a:t> of PSI</a:t>
            </a:r>
            <a:r>
              <a:rPr lang="es-ES" dirty="0" smtClean="0"/>
              <a:t>. (</a:t>
            </a:r>
            <a:r>
              <a:rPr lang="es-ES_tradnl" dirty="0" err="1" smtClean="0"/>
              <a:t>Amending</a:t>
            </a:r>
            <a:r>
              <a:rPr lang="es-ES_tradnl" dirty="0"/>
              <a:t> </a:t>
            </a:r>
            <a:r>
              <a:rPr lang="es-ES_tradnl" dirty="0" smtClean="0"/>
              <a:t>2003</a:t>
            </a:r>
            <a:r>
              <a:rPr lang="es-ES_tradnl" dirty="0"/>
              <a:t>/98/</a:t>
            </a:r>
            <a:r>
              <a:rPr lang="es-ES_tradnl" dirty="0" smtClean="0"/>
              <a:t>EC</a:t>
            </a:r>
            <a:r>
              <a:rPr lang="es-ES" dirty="0" smtClean="0"/>
              <a:t>)</a:t>
            </a:r>
            <a:endParaRPr lang="es-ES" dirty="0"/>
          </a:p>
        </p:txBody>
      </p:sp>
      <p:sp>
        <p:nvSpPr>
          <p:cNvPr id="8" name="Llamada con línea 1 7"/>
          <p:cNvSpPr/>
          <p:nvPr/>
        </p:nvSpPr>
        <p:spPr>
          <a:xfrm>
            <a:off x="478895" y="4306838"/>
            <a:ext cx="4313238" cy="891695"/>
          </a:xfrm>
          <a:prstGeom prst="borderCallout1">
            <a:avLst>
              <a:gd name="adj1" fmla="val 134169"/>
              <a:gd name="adj2" fmla="val 87176"/>
              <a:gd name="adj3" fmla="val 144484"/>
              <a:gd name="adj4" fmla="val 110274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s-ES_tradnl" sz="2000" b="1" dirty="0" err="1" smtClean="0"/>
              <a:t>National</a:t>
            </a:r>
            <a:r>
              <a:rPr lang="es-ES_tradnl" sz="2000" b="1" dirty="0" smtClean="0"/>
              <a:t> </a:t>
            </a:r>
            <a:r>
              <a:rPr lang="es-ES_tradnl" sz="2000" b="1" dirty="0" err="1" smtClean="0"/>
              <a:t>Interoperability</a:t>
            </a:r>
            <a:r>
              <a:rPr lang="es-ES_tradnl" sz="2000" b="1" dirty="0" smtClean="0"/>
              <a:t> </a:t>
            </a:r>
            <a:r>
              <a:rPr lang="es-ES_tradnl" sz="2000" b="1" dirty="0" err="1"/>
              <a:t>Technical</a:t>
            </a:r>
            <a:r>
              <a:rPr lang="es-ES_tradnl" sz="2000" b="1" dirty="0"/>
              <a:t> </a:t>
            </a:r>
            <a:r>
              <a:rPr lang="es-ES_tradnl" sz="2000" b="1" dirty="0" smtClean="0"/>
              <a:t>Standard</a:t>
            </a:r>
            <a:r>
              <a:rPr lang="es-ES_tradnl" sz="2000" dirty="0" smtClean="0"/>
              <a:t> </a:t>
            </a:r>
            <a:r>
              <a:rPr lang="es-ES_tradnl" sz="2000" dirty="0" err="1" smtClean="0"/>
              <a:t>on</a:t>
            </a:r>
            <a:r>
              <a:rPr lang="es-ES_tradnl" sz="2000" dirty="0" smtClean="0"/>
              <a:t> PSI </a:t>
            </a:r>
            <a:r>
              <a:rPr lang="es-ES_tradnl" sz="2000" dirty="0" err="1" smtClean="0"/>
              <a:t>reuse</a:t>
            </a:r>
            <a:r>
              <a:rPr lang="es-ES_tradnl" sz="2000" dirty="0" smtClean="0"/>
              <a:t> (2012)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623993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1740165"/>
            <a:ext cx="1827398" cy="2531533"/>
          </a:xfrm>
          <a:prstGeom prst="rect">
            <a:avLst/>
          </a:prstGeom>
        </p:spPr>
      </p:pic>
      <p:sp>
        <p:nvSpPr>
          <p:cNvPr id="16385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 smtClean="0"/>
              <a:t>Legal Framework (II)</a:t>
            </a:r>
            <a:endParaRPr lang="en-GB" noProof="0" dirty="0"/>
          </a:p>
        </p:txBody>
      </p:sp>
      <p:sp>
        <p:nvSpPr>
          <p:cNvPr id="13" name="Llamada con línea 1 12"/>
          <p:cNvSpPr/>
          <p:nvPr/>
        </p:nvSpPr>
        <p:spPr>
          <a:xfrm>
            <a:off x="3347864" y="2780928"/>
            <a:ext cx="4881563" cy="911754"/>
          </a:xfrm>
          <a:prstGeom prst="borderCallout1">
            <a:avLst>
              <a:gd name="adj1" fmla="val 18750"/>
              <a:gd name="adj2" fmla="val -8333"/>
              <a:gd name="adj3" fmla="val -50365"/>
              <a:gd name="adj4" fmla="val -3869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s-ES_tradnl" sz="2000" b="1" dirty="0" err="1" smtClean="0"/>
              <a:t>Law</a:t>
            </a:r>
            <a:r>
              <a:rPr lang="es-ES_tradnl" sz="2000" b="1" dirty="0" smtClean="0"/>
              <a:t> 19</a:t>
            </a:r>
            <a:r>
              <a:rPr lang="es-ES_tradnl" sz="2000" b="1" dirty="0"/>
              <a:t>/</a:t>
            </a:r>
            <a:r>
              <a:rPr lang="es-ES_tradnl" sz="2000" b="1" dirty="0" smtClean="0"/>
              <a:t>2013</a:t>
            </a:r>
            <a:r>
              <a:rPr lang="es-ES_tradnl" dirty="0" smtClean="0"/>
              <a:t> </a:t>
            </a:r>
            <a:r>
              <a:rPr lang="es-ES_tradnl" dirty="0" err="1" smtClean="0"/>
              <a:t>on</a:t>
            </a:r>
            <a:r>
              <a:rPr lang="es-ES_tradnl" dirty="0" smtClean="0"/>
              <a:t> </a:t>
            </a:r>
            <a:r>
              <a:rPr lang="es-ES_tradnl" dirty="0" err="1" smtClean="0"/>
              <a:t>transparency</a:t>
            </a:r>
            <a:r>
              <a:rPr lang="es-ES_tradnl" dirty="0" smtClean="0"/>
              <a:t>, </a:t>
            </a:r>
            <a:r>
              <a:rPr lang="es-ES_tradnl" dirty="0" err="1" smtClean="0"/>
              <a:t>information</a:t>
            </a:r>
            <a:r>
              <a:rPr lang="es-ES_tradnl" dirty="0" smtClean="0"/>
              <a:t> </a:t>
            </a:r>
            <a:r>
              <a:rPr lang="es-ES_tradnl" dirty="0" err="1" smtClean="0"/>
              <a:t>access</a:t>
            </a:r>
            <a:r>
              <a:rPr lang="es-ES_tradnl" dirty="0" smtClean="0"/>
              <a:t> and </a:t>
            </a:r>
            <a:r>
              <a:rPr lang="es-ES_tradnl" dirty="0" err="1" smtClean="0"/>
              <a:t>good</a:t>
            </a:r>
            <a:r>
              <a:rPr lang="es-ES_tradnl" dirty="0" smtClean="0"/>
              <a:t> </a:t>
            </a:r>
            <a:r>
              <a:rPr lang="es-ES_tradnl" dirty="0" err="1" smtClean="0"/>
              <a:t>governance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462" y="2893482"/>
            <a:ext cx="2022263" cy="3136897"/>
          </a:xfrm>
          <a:prstGeom prst="rect">
            <a:avLst/>
          </a:prstGeom>
        </p:spPr>
      </p:pic>
      <p:sp>
        <p:nvSpPr>
          <p:cNvPr id="8" name="Llamada con línea 1 7"/>
          <p:cNvSpPr/>
          <p:nvPr/>
        </p:nvSpPr>
        <p:spPr>
          <a:xfrm>
            <a:off x="3419872" y="5445224"/>
            <a:ext cx="4115461" cy="911754"/>
          </a:xfrm>
          <a:prstGeom prst="borderCallout1">
            <a:avLst>
              <a:gd name="adj1" fmla="val 18750"/>
              <a:gd name="adj2" fmla="val -8333"/>
              <a:gd name="adj3" fmla="val -72000"/>
              <a:gd name="adj4" fmla="val -3516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s-ES_tradnl" sz="2000" b="1" dirty="0" err="1" smtClean="0"/>
              <a:t>Various</a:t>
            </a:r>
            <a:r>
              <a:rPr lang="es-ES_tradnl" sz="2000" b="1" dirty="0" smtClean="0"/>
              <a:t> regional/local </a:t>
            </a:r>
            <a:r>
              <a:rPr lang="es-ES_tradnl" sz="2000" b="1" dirty="0" err="1" smtClean="0"/>
              <a:t>acts</a:t>
            </a:r>
            <a:r>
              <a:rPr lang="es-ES_tradnl" sz="2000" b="1" dirty="0" smtClean="0"/>
              <a:t> </a:t>
            </a:r>
            <a:r>
              <a:rPr lang="es-ES_tradnl" dirty="0" err="1" smtClean="0"/>
              <a:t>on</a:t>
            </a:r>
            <a:r>
              <a:rPr lang="es-ES_tradnl" dirty="0" smtClean="0"/>
              <a:t> </a:t>
            </a:r>
            <a:r>
              <a:rPr lang="es-ES_tradnl" dirty="0" err="1" smtClean="0"/>
              <a:t>transparency</a:t>
            </a:r>
            <a:r>
              <a:rPr lang="es-ES_tradnl" dirty="0" smtClean="0"/>
              <a:t> and/</a:t>
            </a:r>
            <a:r>
              <a:rPr lang="es-ES_tradnl" dirty="0" err="1" smtClean="0"/>
              <a:t>or</a:t>
            </a:r>
            <a:r>
              <a:rPr lang="es-ES_tradnl" dirty="0" smtClean="0"/>
              <a:t> PSI </a:t>
            </a:r>
            <a:r>
              <a:rPr lang="es-ES_tradnl" dirty="0" err="1" smtClean="0"/>
              <a:t>reuse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62299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In brief</a:t>
            </a:r>
            <a:endParaRPr lang="en-GB" noProof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457199" y="1752600"/>
            <a:ext cx="8382001" cy="4373563"/>
          </a:xfrm>
        </p:spPr>
        <p:txBody>
          <a:bodyPr>
            <a:normAutofit/>
          </a:bodyPr>
          <a:lstStyle/>
          <a:p>
            <a:r>
              <a:rPr lang="en-GB" sz="3200" b="0" dirty="0" smtClean="0"/>
              <a:t>Every </a:t>
            </a:r>
            <a:r>
              <a:rPr lang="en-GB" sz="3200" b="0" noProof="0" dirty="0" smtClean="0"/>
              <a:t>national-level public body had to:</a:t>
            </a:r>
          </a:p>
          <a:p>
            <a:pPr marL="457200" indent="-457200">
              <a:buFont typeface="Arial"/>
              <a:buChar char="•"/>
            </a:pPr>
            <a:r>
              <a:rPr lang="en-GB" sz="3200" b="0" noProof="0" dirty="0" smtClean="0"/>
              <a:t>Appoint a </a:t>
            </a:r>
            <a:r>
              <a:rPr lang="en-GB" sz="3200" b="1" noProof="0" dirty="0" smtClean="0"/>
              <a:t>PSI Manager</a:t>
            </a:r>
          </a:p>
          <a:p>
            <a:pPr marL="457200" indent="-457200">
              <a:buFont typeface="Arial"/>
              <a:buChar char="•"/>
            </a:pPr>
            <a:r>
              <a:rPr lang="en-GB" sz="3200" b="0" noProof="0" dirty="0" smtClean="0"/>
              <a:t>Publish at least </a:t>
            </a:r>
            <a:r>
              <a:rPr lang="en-GB" sz="3200" b="1" noProof="0" dirty="0" smtClean="0"/>
              <a:t>4 datasets</a:t>
            </a:r>
            <a:r>
              <a:rPr lang="en-GB" sz="3200" b="0" noProof="0" dirty="0" smtClean="0"/>
              <a:t> as Open Data </a:t>
            </a:r>
          </a:p>
          <a:p>
            <a:pPr marL="457200" indent="-457200">
              <a:buFont typeface="Arial"/>
              <a:buChar char="•"/>
            </a:pPr>
            <a:r>
              <a:rPr lang="en-GB" sz="3200" b="0" noProof="0" dirty="0" smtClean="0"/>
              <a:t>Index that data on </a:t>
            </a:r>
            <a:r>
              <a:rPr lang="en-GB" sz="3200" b="0" noProof="0" dirty="0" smtClean="0">
                <a:hlinkClick r:id="rId2"/>
              </a:rPr>
              <a:t>datos.gob.es</a:t>
            </a:r>
            <a:endParaRPr lang="en-GB" sz="3200" b="0" noProof="0" dirty="0" smtClean="0"/>
          </a:p>
          <a:p>
            <a:pPr marL="457200" indent="-457200">
              <a:buFont typeface="Arial"/>
              <a:buChar char="•"/>
            </a:pPr>
            <a:r>
              <a:rPr lang="en-GB" sz="3200" b="0" noProof="0" dirty="0" smtClean="0"/>
              <a:t>Implement the </a:t>
            </a:r>
            <a:r>
              <a:rPr lang="en-GB" sz="3200" noProof="0" dirty="0" smtClean="0"/>
              <a:t>Interoperability Technical Standard (ITS) on PSI reuse</a:t>
            </a:r>
            <a:endParaRPr lang="en-GB" sz="3200" noProof="0" dirty="0"/>
          </a:p>
        </p:txBody>
      </p:sp>
    </p:spTree>
    <p:extLst>
      <p:ext uri="{BB962C8B-B14F-4D97-AF65-F5344CB8AC3E}">
        <p14:creationId xmlns:p14="http://schemas.microsoft.com/office/powerpoint/2010/main" val="557800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 smtClean="0"/>
              <a:t>ITS on PSI RE-USE</a:t>
            </a:r>
            <a:endParaRPr lang="en-GB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199" y="1752600"/>
            <a:ext cx="7941733" cy="4902200"/>
          </a:xfrm>
        </p:spPr>
        <p:txBody>
          <a:bodyPr>
            <a:normAutofit lnSpcReduction="10000"/>
          </a:bodyPr>
          <a:lstStyle/>
          <a:p>
            <a:r>
              <a:rPr lang="en-GB" sz="2400" noProof="0" dirty="0" smtClean="0"/>
              <a:t>Based on </a:t>
            </a:r>
            <a:r>
              <a:rPr lang="en-GB" sz="2400" noProof="0" dirty="0" smtClean="0">
                <a:hlinkClick r:id="rId3"/>
              </a:rPr>
              <a:t>W3C’s DCAT</a:t>
            </a:r>
            <a:r>
              <a:rPr lang="en-GB" sz="2400" noProof="0" dirty="0" smtClean="0"/>
              <a:t> </a:t>
            </a:r>
            <a:r>
              <a:rPr lang="en-GB" sz="2400" b="0" noProof="0" dirty="0" smtClean="0"/>
              <a:t>and compliant with ISA’s </a:t>
            </a:r>
            <a:r>
              <a:rPr lang="en-GB" sz="2400" b="0" noProof="0" dirty="0" smtClean="0">
                <a:hlinkClick r:id="rId4"/>
              </a:rPr>
              <a:t>DCAT Application Profile for data portals in Europe</a:t>
            </a:r>
            <a:endParaRPr lang="en-GB" sz="2400" b="0" noProof="0" dirty="0" smtClean="0"/>
          </a:p>
          <a:p>
            <a:r>
              <a:rPr lang="en-GB" sz="2400" noProof="0" dirty="0" smtClean="0"/>
              <a:t>Technical guidelines </a:t>
            </a:r>
            <a:r>
              <a:rPr lang="en-GB" sz="2400" b="0" noProof="0" dirty="0" smtClean="0"/>
              <a:t>for public bodies to implement Open Data strategies</a:t>
            </a:r>
            <a:r>
              <a:rPr lang="en-GB" sz="2400" b="0" dirty="0" smtClean="0"/>
              <a:t>. </a:t>
            </a:r>
          </a:p>
          <a:p>
            <a:r>
              <a:rPr lang="en-GB" sz="2400" b="0" dirty="0" smtClean="0"/>
              <a:t>How to:</a:t>
            </a:r>
            <a:endParaRPr lang="en-GB" sz="2400" b="0" noProof="0" dirty="0" smtClean="0"/>
          </a:p>
          <a:p>
            <a:pPr marL="800100" lvl="1" indent="-342900">
              <a:buFont typeface="Arial"/>
              <a:buChar char="•"/>
            </a:pPr>
            <a:r>
              <a:rPr lang="en-GB" sz="2400" b="1" noProof="0" dirty="0" smtClean="0"/>
              <a:t>Select </a:t>
            </a:r>
            <a:r>
              <a:rPr lang="en-GB" sz="2400" b="0" noProof="0" dirty="0" smtClean="0"/>
              <a:t>information; </a:t>
            </a:r>
          </a:p>
          <a:p>
            <a:pPr marL="800100" lvl="1" indent="-342900">
              <a:buFont typeface="Arial"/>
              <a:buChar char="•"/>
            </a:pPr>
            <a:r>
              <a:rPr lang="en-GB" sz="2400" b="1" noProof="0" dirty="0" smtClean="0"/>
              <a:t>Identify</a:t>
            </a:r>
            <a:r>
              <a:rPr lang="en-GB" sz="2400" b="0" noProof="0" dirty="0" smtClean="0"/>
              <a:t> datasets, catalogues, portal on the Web</a:t>
            </a:r>
          </a:p>
          <a:p>
            <a:pPr marL="800100" lvl="1" indent="-342900">
              <a:buFont typeface="Arial"/>
              <a:buChar char="•"/>
            </a:pPr>
            <a:r>
              <a:rPr lang="en-GB" sz="2400" b="1" noProof="0" dirty="0" smtClean="0"/>
              <a:t>Describe metadata</a:t>
            </a:r>
            <a:r>
              <a:rPr lang="en-GB" sz="2400" b="0" noProof="0" dirty="0" smtClean="0"/>
              <a:t> on datasets (DCAT)</a:t>
            </a:r>
          </a:p>
          <a:p>
            <a:pPr marL="800100" lvl="1" indent="-342900">
              <a:buFont typeface="Arial"/>
              <a:buChar char="•"/>
            </a:pPr>
            <a:r>
              <a:rPr lang="en-GB" sz="2400" b="1" noProof="0" dirty="0" smtClean="0"/>
              <a:t>License</a:t>
            </a:r>
            <a:r>
              <a:rPr lang="en-GB" sz="2400" b="0" noProof="0" dirty="0" smtClean="0"/>
              <a:t> (with a model)</a:t>
            </a:r>
          </a:p>
          <a:p>
            <a:pPr marL="800100" lvl="1" indent="-342900">
              <a:buFont typeface="Arial"/>
              <a:buChar char="•"/>
            </a:pPr>
            <a:r>
              <a:rPr lang="en-GB" sz="2400" b="1" noProof="0" dirty="0" smtClean="0"/>
              <a:t>Publish and maintain</a:t>
            </a:r>
            <a:r>
              <a:rPr lang="en-GB" sz="2400" b="0" noProof="0" dirty="0" smtClean="0"/>
              <a:t> data </a:t>
            </a:r>
            <a:r>
              <a:rPr lang="en-GB" sz="2400" b="0" noProof="0" dirty="0" smtClean="0"/>
              <a:t>catalogues</a:t>
            </a:r>
          </a:p>
          <a:p>
            <a:r>
              <a:rPr lang="en-GB" sz="2400" b="0" dirty="0" smtClean="0"/>
              <a:t>See </a:t>
            </a:r>
            <a:r>
              <a:rPr lang="en-GB" sz="2400" b="0" dirty="0" smtClean="0">
                <a:hlinkClick r:id="rId5"/>
              </a:rPr>
              <a:t>more</a:t>
            </a:r>
            <a:endParaRPr lang="en-GB" sz="2400" b="0" noProof="0" dirty="0" smtClean="0"/>
          </a:p>
        </p:txBody>
      </p:sp>
    </p:spTree>
    <p:extLst>
      <p:ext uri="{BB962C8B-B14F-4D97-AF65-F5344CB8AC3E}">
        <p14:creationId xmlns:p14="http://schemas.microsoft.com/office/powerpoint/2010/main" val="32107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919" r="2919"/>
          <a:stretch>
            <a:fillRect/>
          </a:stretch>
        </p:blipFill>
        <p:spPr/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Use Guides to implement Open Data projects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6928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Health of Open Data</a:t>
            </a:r>
            <a:endParaRPr lang="en-GB" noProof="0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noProof="0" smtClean="0"/>
              <a:t>PSI Re-use in Spain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0539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916" b="1916"/>
          <a:stretch>
            <a:fillRect/>
          </a:stretch>
        </p:blipFill>
        <p:spPr/>
      </p:pic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smtClean="0"/>
              <a:t>112 ongoing initiatives (</a:t>
            </a:r>
            <a:r>
              <a:rPr lang="en-GB" smtClean="0">
                <a:solidFill>
                  <a:schemeClr val="bg2">
                    <a:lumMod val="50000"/>
                  </a:schemeClr>
                </a:solidFill>
              </a:rPr>
              <a:t>local</a:t>
            </a:r>
            <a:r>
              <a:rPr lang="en-GB" smtClean="0"/>
              <a:t>, </a:t>
            </a:r>
            <a:r>
              <a:rPr lang="en-GB" smtClean="0">
                <a:solidFill>
                  <a:srgbClr val="BBBB02"/>
                </a:solidFill>
              </a:rPr>
              <a:t>regional</a:t>
            </a:r>
            <a:r>
              <a:rPr lang="en-GB" smtClean="0"/>
              <a:t>, </a:t>
            </a:r>
            <a:r>
              <a:rPr lang="en-GB" smtClean="0">
                <a:solidFill>
                  <a:srgbClr val="FF0000"/>
                </a:solidFill>
              </a:rPr>
              <a:t>national</a:t>
            </a:r>
            <a:r>
              <a:rPr lang="en-GB" smtClean="0"/>
              <a:t> level)  </a:t>
            </a:r>
            <a:endParaRPr lang="en-GB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Open Data initiatives in Spain</a:t>
            </a:r>
            <a:endParaRPr lang="en-GB" dirty="0"/>
          </a:p>
        </p:txBody>
      </p:sp>
      <p:sp>
        <p:nvSpPr>
          <p:cNvPr id="8" name="Rectángulo 7"/>
          <p:cNvSpPr/>
          <p:nvPr/>
        </p:nvSpPr>
        <p:spPr>
          <a:xfrm>
            <a:off x="6911665" y="6447766"/>
            <a:ext cx="18785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>
                <a:hlinkClick r:id="rId4"/>
              </a:rPr>
              <a:t>http://</a:t>
            </a:r>
            <a:r>
              <a:rPr lang="es-ES" sz="1200" dirty="0" smtClean="0">
                <a:hlinkClick r:id="rId4"/>
              </a:rPr>
              <a:t>mapa.datos.gob.es</a:t>
            </a:r>
            <a:r>
              <a:rPr lang="es-ES" sz="1200" dirty="0" smtClean="0"/>
              <a:t> 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949975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662" r="3662"/>
          <a:stretch>
            <a:fillRect/>
          </a:stretch>
        </p:blipFill>
        <p:spPr/>
      </p:pic>
      <p:sp>
        <p:nvSpPr>
          <p:cNvPr id="3" name="Marcador de texto 2"/>
          <p:cNvSpPr>
            <a:spLocks noGrp="1"/>
          </p:cNvSpPr>
          <p:nvPr>
            <p:ph type="body" sz="half" idx="2"/>
          </p:nvPr>
        </p:nvSpPr>
        <p:spPr>
          <a:xfrm>
            <a:off x="457200" y="5714999"/>
            <a:ext cx="8153400" cy="804333"/>
          </a:xfrm>
        </p:spPr>
        <p:txBody>
          <a:bodyPr>
            <a:normAutofit/>
          </a:bodyPr>
          <a:lstStyle/>
          <a:p>
            <a:r>
              <a:rPr lang="en-GB" sz="2000" smtClean="0"/>
              <a:t>8,816 datasets</a:t>
            </a:r>
            <a:r>
              <a:rPr lang="en-GB" smtClean="0"/>
              <a:t> </a:t>
            </a:r>
            <a:r>
              <a:rPr lang="en-GB" b="0" smtClean="0"/>
              <a:t>from </a:t>
            </a:r>
            <a:r>
              <a:rPr lang="en-GB" sz="2000" smtClean="0"/>
              <a:t>93 public bodies</a:t>
            </a:r>
            <a:endParaRPr lang="en-GB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National Open Data Portal</a:t>
            </a:r>
            <a:endParaRPr lang="en-GB" dirty="0"/>
          </a:p>
        </p:txBody>
      </p:sp>
      <p:sp>
        <p:nvSpPr>
          <p:cNvPr id="5" name="Rectángulo 4"/>
          <p:cNvSpPr/>
          <p:nvPr/>
        </p:nvSpPr>
        <p:spPr>
          <a:xfrm>
            <a:off x="6934462" y="6360068"/>
            <a:ext cx="18729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 smtClean="0">
                <a:hlinkClick r:id="rId3"/>
              </a:rPr>
              <a:t>http://datos.gob.es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059967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817" b="1817"/>
          <a:stretch>
            <a:fillRect/>
          </a:stretch>
        </p:blipFill>
        <p:spPr/>
      </p:pic>
      <p:sp>
        <p:nvSpPr>
          <p:cNvPr id="3" name="Marcador de texto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smtClean="0"/>
              <a:t>93 public bodies publishing feeds that are collected by datos.gob.es</a:t>
            </a:r>
            <a:endParaRPr lang="en-GB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Automatic catalogue Federation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7521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Health of PSI </a:t>
            </a:r>
            <a:r>
              <a:rPr lang="en-GB" dirty="0"/>
              <a:t>reuse</a:t>
            </a:r>
            <a:endParaRPr lang="en-GB" noProof="0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noProof="0" smtClean="0"/>
              <a:t>PSI Re-use in Spain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834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ítulo 1"/>
          <p:cNvSpPr>
            <a:spLocks noGrp="1"/>
          </p:cNvSpPr>
          <p:nvPr>
            <p:ph type="title"/>
          </p:nvPr>
        </p:nvSpPr>
        <p:spPr>
          <a:xfrm>
            <a:off x="457199" y="152718"/>
            <a:ext cx="6157843" cy="1371600"/>
          </a:xfrm>
        </p:spPr>
        <p:txBody>
          <a:bodyPr>
            <a:noAutofit/>
          </a:bodyPr>
          <a:lstStyle/>
          <a:p>
            <a:r>
              <a:rPr lang="en-GB" noProof="0" dirty="0" err="1" smtClean="0"/>
              <a:t>Infomediary</a:t>
            </a:r>
            <a:r>
              <a:rPr lang="en-GB" noProof="0" dirty="0" smtClean="0"/>
              <a:t> sector in Spain</a:t>
            </a:r>
            <a:endParaRPr lang="en-GB" noProof="0" dirty="0"/>
          </a:p>
        </p:txBody>
      </p:sp>
      <p:pic>
        <p:nvPicPr>
          <p:cNvPr id="4" name="Imagen 3" descr="icon_2499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7" y="1811867"/>
            <a:ext cx="2438400" cy="24384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97466" y="4250267"/>
            <a:ext cx="268535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 smtClean="0">
                <a:latin typeface="Avenir Book"/>
                <a:cs typeface="Avenir Book"/>
              </a:rPr>
              <a:t>623</a:t>
            </a:r>
            <a:r>
              <a:rPr lang="es-ES" sz="2400" b="1" dirty="0" smtClean="0">
                <a:latin typeface="Avenir Book"/>
                <a:cs typeface="Avenir Book"/>
              </a:rPr>
              <a:t> </a:t>
            </a:r>
            <a:r>
              <a:rPr lang="es-ES" sz="2400" dirty="0" err="1" smtClean="0">
                <a:latin typeface="Avenir Book"/>
                <a:cs typeface="Avenir Book"/>
              </a:rPr>
              <a:t>Companies</a:t>
            </a:r>
            <a:endParaRPr lang="es-ES" sz="2400" dirty="0" smtClean="0">
              <a:latin typeface="Avenir Book"/>
              <a:cs typeface="Avenir Book"/>
            </a:endParaRPr>
          </a:p>
          <a:p>
            <a:r>
              <a:rPr lang="es-ES" sz="2400" dirty="0" smtClean="0">
                <a:latin typeface="Avenir Book"/>
                <a:cs typeface="Avenir Book"/>
              </a:rPr>
              <a:t>(</a:t>
            </a:r>
            <a:r>
              <a:rPr lang="es-ES" sz="2400" dirty="0" smtClean="0">
                <a:solidFill>
                  <a:srgbClr val="008000"/>
                </a:solidFill>
                <a:latin typeface="Wingdings"/>
                <a:ea typeface="Wingdings"/>
                <a:cs typeface="Wingdings"/>
                <a:sym typeface="Wingdings"/>
              </a:rPr>
              <a:t></a:t>
            </a:r>
            <a:r>
              <a:rPr lang="es-ES" sz="2400" dirty="0" smtClean="0">
                <a:latin typeface="Avenir Book"/>
                <a:cs typeface="Avenir Book"/>
              </a:rPr>
              <a:t>74)</a:t>
            </a:r>
            <a:endParaRPr lang="es-ES" sz="4000" dirty="0">
              <a:latin typeface="Avenir Book"/>
              <a:cs typeface="Avenir Book"/>
            </a:endParaRPr>
          </a:p>
        </p:txBody>
      </p:sp>
      <p:pic>
        <p:nvPicPr>
          <p:cNvPr id="6" name="Imagen 5" descr="icon_4509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976968"/>
            <a:ext cx="1481666" cy="1481666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5084881" y="2299035"/>
            <a:ext cx="202711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4000" b="1" dirty="0">
                <a:latin typeface="Avenir Book"/>
                <a:cs typeface="Avenir Book"/>
              </a:rPr>
              <a:t>€</a:t>
            </a:r>
            <a:r>
              <a:rPr lang="es-ES" sz="4000" b="1" dirty="0" smtClean="0">
                <a:latin typeface="Avenir Book"/>
                <a:cs typeface="Avenir Book"/>
              </a:rPr>
              <a:t>1.1b </a:t>
            </a:r>
          </a:p>
          <a:p>
            <a:pPr algn="r"/>
            <a:r>
              <a:rPr lang="es-ES" sz="2400" dirty="0" smtClean="0">
                <a:latin typeface="Avenir Book"/>
                <a:cs typeface="Avenir Book"/>
              </a:rPr>
              <a:t>Total </a:t>
            </a:r>
            <a:r>
              <a:rPr lang="es-ES" sz="2400" dirty="0" err="1">
                <a:latin typeface="Avenir Book"/>
                <a:cs typeface="Avenir Book"/>
              </a:rPr>
              <a:t>i</a:t>
            </a:r>
            <a:r>
              <a:rPr lang="es-ES" sz="2400" dirty="0" err="1" smtClean="0">
                <a:latin typeface="Avenir Book"/>
                <a:cs typeface="Avenir Book"/>
              </a:rPr>
              <a:t>ncome</a:t>
            </a:r>
            <a:endParaRPr lang="es-ES" sz="2400" dirty="0">
              <a:latin typeface="Avenir Book"/>
              <a:cs typeface="Avenir Book"/>
            </a:endParaRPr>
          </a:p>
          <a:p>
            <a:pPr algn="r"/>
            <a:endParaRPr lang="es-ES" sz="2400" b="1" dirty="0" smtClean="0">
              <a:latin typeface="Avenir Book"/>
              <a:cs typeface="Avenir Book"/>
            </a:endParaRPr>
          </a:p>
        </p:txBody>
      </p:sp>
      <p:pic>
        <p:nvPicPr>
          <p:cNvPr id="7" name="Imagen 6" descr="icon_37444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066" y="3365500"/>
            <a:ext cx="2937934" cy="2937934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1818400" y="5226216"/>
            <a:ext cx="33522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4000" b="1" dirty="0" smtClean="0">
                <a:latin typeface="Avenir Book"/>
                <a:cs typeface="Avenir Book"/>
              </a:rPr>
              <a:t>13.827</a:t>
            </a:r>
            <a:r>
              <a:rPr lang="es-ES" sz="2400" b="1" dirty="0" smtClean="0">
                <a:latin typeface="Avenir Book"/>
                <a:cs typeface="Avenir Book"/>
              </a:rPr>
              <a:t> </a:t>
            </a:r>
            <a:r>
              <a:rPr lang="es-ES" sz="2400" dirty="0" err="1" smtClean="0">
                <a:latin typeface="Avenir Book"/>
                <a:cs typeface="Avenir Book"/>
              </a:rPr>
              <a:t>Employees</a:t>
            </a:r>
            <a:endParaRPr lang="es-ES" sz="2400" dirty="0" smtClean="0">
              <a:latin typeface="Avenir Book"/>
              <a:cs typeface="Avenir Book"/>
            </a:endParaRPr>
          </a:p>
          <a:p>
            <a:pPr algn="r"/>
            <a:r>
              <a:rPr lang="es-ES" sz="2400" dirty="0" smtClean="0">
                <a:latin typeface="Avenir Book"/>
                <a:cs typeface="Avenir Book"/>
              </a:rPr>
              <a:t>(</a:t>
            </a:r>
            <a:r>
              <a:rPr lang="es-ES" sz="2400" dirty="0" smtClean="0">
                <a:solidFill>
                  <a:srgbClr val="008000"/>
                </a:solidFill>
                <a:latin typeface="Wingdings"/>
                <a:ea typeface="Wingdings"/>
                <a:cs typeface="Wingdings"/>
                <a:sym typeface="Wingdings"/>
              </a:rPr>
              <a:t></a:t>
            </a:r>
            <a:r>
              <a:rPr lang="es-ES" sz="2400" dirty="0">
                <a:latin typeface="Avenir Book"/>
                <a:cs typeface="Avenir Book"/>
                <a:sym typeface="Wingdings"/>
              </a:rPr>
              <a:t>9</a:t>
            </a:r>
            <a:r>
              <a:rPr lang="es-ES" sz="2400" dirty="0" smtClean="0">
                <a:latin typeface="Avenir Book"/>
                <a:cs typeface="Avenir Book"/>
              </a:rPr>
              <a:t>%)</a:t>
            </a:r>
            <a:endParaRPr lang="es-ES" sz="4000" dirty="0">
              <a:latin typeface="Avenir Book"/>
              <a:cs typeface="Avenir Book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0" y="6557202"/>
            <a:ext cx="643466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100" dirty="0">
                <a:hlinkClick r:id="rId6"/>
              </a:rPr>
              <a:t>http://datos.gob.es/content/informe-del-sector-infomediario-</a:t>
            </a:r>
            <a:r>
              <a:rPr lang="es-ES" sz="1100" dirty="0" smtClean="0">
                <a:hlinkClick r:id="rId6"/>
              </a:rPr>
              <a:t>2015</a:t>
            </a:r>
            <a:r>
              <a:rPr lang="es-ES" sz="1100" dirty="0" smtClean="0"/>
              <a:t>  </a:t>
            </a:r>
            <a:endParaRPr lang="es-ES" sz="1100" dirty="0"/>
          </a:p>
        </p:txBody>
      </p:sp>
      <p:sp>
        <p:nvSpPr>
          <p:cNvPr id="9" name="Rectángulo 8"/>
          <p:cNvSpPr/>
          <p:nvPr/>
        </p:nvSpPr>
        <p:spPr>
          <a:xfrm>
            <a:off x="31000" y="6271392"/>
            <a:ext cx="12504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Building </a:t>
            </a:r>
            <a:r>
              <a:rPr lang="es-ES" sz="500" dirty="0" err="1">
                <a:solidFill>
                  <a:schemeClr val="bg1">
                    <a:lumMod val="75000"/>
                  </a:schemeClr>
                </a:solidFill>
              </a:rPr>
              <a:t>designed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500" dirty="0" err="1">
                <a:solidFill>
                  <a:schemeClr val="bg1">
                    <a:lumMod val="75000"/>
                  </a:schemeClr>
                </a:solidFill>
              </a:rPr>
              <a:t>by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  <a:hlinkClick r:id="rId7"/>
              </a:rPr>
              <a:t>Kat Tp</a:t>
            </a:r>
            <a:endParaRPr lang="es-ES" sz="5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500" dirty="0" err="1">
                <a:solidFill>
                  <a:schemeClr val="bg1">
                    <a:lumMod val="75000"/>
                  </a:schemeClr>
                </a:solidFill>
              </a:rPr>
              <a:t>Coins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500" dirty="0" err="1">
                <a:solidFill>
                  <a:schemeClr val="bg1">
                    <a:lumMod val="75000"/>
                  </a:schemeClr>
                </a:solidFill>
              </a:rPr>
              <a:t>designed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500" dirty="0" err="1">
                <a:solidFill>
                  <a:schemeClr val="bg1">
                    <a:lumMod val="75000"/>
                  </a:schemeClr>
                </a:solidFill>
              </a:rPr>
              <a:t>by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  <a:hlinkClick r:id="rId8"/>
              </a:rPr>
              <a:t>Mike Hince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r>
              <a:rPr lang="es-ES" sz="500" dirty="0" err="1">
                <a:solidFill>
                  <a:schemeClr val="bg1">
                    <a:lumMod val="75000"/>
                  </a:schemeClr>
                </a:solidFill>
              </a:rPr>
              <a:t>People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500" dirty="0" err="1">
                <a:solidFill>
                  <a:schemeClr val="bg1">
                    <a:lumMod val="75000"/>
                  </a:schemeClr>
                </a:solidFill>
              </a:rPr>
              <a:t>designed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500" dirty="0" err="1">
                <a:solidFill>
                  <a:schemeClr val="bg1">
                    <a:lumMod val="75000"/>
                  </a:schemeClr>
                </a:solidFill>
              </a:rPr>
              <a:t>by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500" dirty="0" err="1">
                <a:solidFill>
                  <a:schemeClr val="bg1">
                    <a:lumMod val="75000"/>
                  </a:schemeClr>
                </a:solidFill>
                <a:hlinkClick r:id="rId9"/>
              </a:rPr>
              <a:t>Benjamin</a:t>
            </a:r>
            <a:r>
              <a:rPr lang="es-ES" sz="500" dirty="0">
                <a:solidFill>
                  <a:schemeClr val="bg1">
                    <a:lumMod val="75000"/>
                  </a:schemeClr>
                </a:solidFill>
                <a:hlinkClick r:id="rId9"/>
              </a:rPr>
              <a:t> Harlow</a:t>
            </a:r>
            <a:endParaRPr lang="es-ES" sz="500" dirty="0">
              <a:solidFill>
                <a:schemeClr val="bg1">
                  <a:lumMod val="75000"/>
                </a:schemeClr>
              </a:solidFill>
            </a:endParaRPr>
          </a:p>
          <a:p>
            <a:endParaRPr lang="es-ES" sz="5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7169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smtClean="0"/>
              <a:t>54%  </a:t>
            </a:r>
            <a:r>
              <a:rPr lang="en-GB" smtClean="0">
                <a:sym typeface="Wingdings"/>
              </a:rPr>
              <a:t> market studies</a:t>
            </a:r>
            <a:endParaRPr lang="en-GB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COMPANIES BY SECTOR</a:t>
            </a:r>
            <a:endParaRPr lang="en-GB" dirty="0"/>
          </a:p>
        </p:txBody>
      </p:sp>
      <p:pic>
        <p:nvPicPr>
          <p:cNvPr id="9" name="Marcador de posición de imagen 8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46" r="3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97875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114" r="6114"/>
          <a:stretch>
            <a:fillRect/>
          </a:stretch>
        </p:blipFill>
        <p:spPr/>
      </p:pic>
      <p:sp>
        <p:nvSpPr>
          <p:cNvPr id="3" name="Marcador de texto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smtClean="0"/>
              <a:t>See you there!!!</a:t>
            </a:r>
            <a:endParaRPr lang="en-GB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543676" cy="762000"/>
          </a:xfrm>
        </p:spPr>
        <p:txBody>
          <a:bodyPr>
            <a:noAutofit/>
          </a:bodyPr>
          <a:lstStyle/>
          <a:p>
            <a:r>
              <a:rPr lang="en-GB" sz="2800" smtClean="0"/>
              <a:t>International Open Data Conference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83697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half" idx="2"/>
          </p:nvPr>
        </p:nvSpPr>
        <p:spPr>
          <a:xfrm>
            <a:off x="457200" y="4233333"/>
            <a:ext cx="8153400" cy="2093916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GB" noProof="0" dirty="0" smtClean="0">
                <a:hlinkClick r:id="rId2"/>
              </a:rPr>
              <a:t>martin@w3.org</a:t>
            </a:r>
          </a:p>
          <a:p>
            <a:pPr algn="r"/>
            <a:r>
              <a:rPr lang="en-GB" noProof="0" dirty="0" smtClean="0">
                <a:hlinkClick r:id="rId2"/>
              </a:rPr>
              <a:t>http://epsiplatform.eu</a:t>
            </a:r>
            <a:r>
              <a:rPr lang="en-GB" noProof="0" dirty="0" smtClean="0"/>
              <a:t> </a:t>
            </a:r>
          </a:p>
          <a:p>
            <a:pPr algn="r"/>
            <a:r>
              <a:rPr lang="en-GB" noProof="0" dirty="0" smtClean="0">
                <a:hlinkClick r:id="rId3"/>
              </a:rPr>
              <a:t>info@epsiplatform.eu</a:t>
            </a:r>
            <a:endParaRPr lang="en-GB" noProof="0" dirty="0" smtClean="0"/>
          </a:p>
          <a:p>
            <a:pPr algn="r"/>
            <a:endParaRPr lang="en-GB" noProof="0" dirty="0" smtClean="0"/>
          </a:p>
          <a:p>
            <a:pPr algn="r"/>
            <a:r>
              <a:rPr lang="en-GB" sz="2200" noProof="0" dirty="0">
                <a:hlinkClick r:id="rId4"/>
              </a:rPr>
              <a:t>CNECT-OPENDATA@</a:t>
            </a:r>
            <a:r>
              <a:rPr lang="en-GB" sz="2200" noProof="0" dirty="0" smtClean="0">
                <a:hlinkClick r:id="rId4"/>
              </a:rPr>
              <a:t>ec.europa.eu</a:t>
            </a:r>
            <a:r>
              <a:rPr lang="en-GB" sz="2200" noProof="0" dirty="0" smtClean="0"/>
              <a:t> </a:t>
            </a:r>
          </a:p>
          <a:p>
            <a:pPr algn="r"/>
            <a:r>
              <a:rPr lang="en-GB" noProof="0" dirty="0" smtClean="0"/>
              <a:t> </a:t>
            </a:r>
            <a:endParaRPr lang="en-GB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Thank you!</a:t>
            </a:r>
            <a:endParaRPr lang="en-GB" noProof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700" y="663894"/>
            <a:ext cx="3771900" cy="16129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029" y="6055659"/>
            <a:ext cx="11176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269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Esencial.thmx</Template>
  <TotalTime>6920</TotalTime>
  <Words>679</Words>
  <Application>Microsoft Macintosh PowerPoint</Application>
  <PresentationFormat>Presentación en pantalla (4:3)</PresentationFormat>
  <Paragraphs>95</Paragraphs>
  <Slides>20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Essential</vt:lpstr>
      <vt:lpstr>PSI Re-USE in SPAIN</vt:lpstr>
      <vt:lpstr>About EPSI Platform</vt:lpstr>
      <vt:lpstr>ePSI Platform</vt:lpstr>
      <vt:lpstr>PSI Scoreboard</vt:lpstr>
      <vt:lpstr>PSI Scoreboard</vt:lpstr>
      <vt:lpstr>Legal background</vt:lpstr>
      <vt:lpstr>Legal Framework (I)</vt:lpstr>
      <vt:lpstr>Legal Framework (II)</vt:lpstr>
      <vt:lpstr>In brief</vt:lpstr>
      <vt:lpstr>ITS on PSI RE-USE</vt:lpstr>
      <vt:lpstr>Use Guides to implement Open Data projects</vt:lpstr>
      <vt:lpstr>Health of Open Data</vt:lpstr>
      <vt:lpstr>Open Data initiatives in Spain</vt:lpstr>
      <vt:lpstr>National Open Data Portal</vt:lpstr>
      <vt:lpstr>Automatic catalogue Federation</vt:lpstr>
      <vt:lpstr>Health of PSI reuse</vt:lpstr>
      <vt:lpstr>Infomediary sector in Spain</vt:lpstr>
      <vt:lpstr>COMPANIES BY SECTOR</vt:lpstr>
      <vt:lpstr>International Open Data Conference</vt:lpstr>
      <vt:lpstr>Thank you!</vt:lpstr>
    </vt:vector>
  </TitlesOfParts>
  <Manager/>
  <Company>EPSI Platform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 Re-Use in Europe</dc:title>
  <dc:subject/>
  <dc:creator>Martin Alvarez-Espinar</dc:creator>
  <cp:keywords/>
  <dc:description/>
  <cp:lastModifiedBy>martin</cp:lastModifiedBy>
  <cp:revision>203</cp:revision>
  <dcterms:created xsi:type="dcterms:W3CDTF">2013-09-30T19:25:08Z</dcterms:created>
  <dcterms:modified xsi:type="dcterms:W3CDTF">2015-10-05T10:52:13Z</dcterms:modified>
  <cp:category/>
</cp:coreProperties>
</file>